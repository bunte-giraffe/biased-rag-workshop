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y="5143500" cx="9144000"/>
  <p:notesSz cx="6858000" cy="9144000"/>
  <p:embeddedFontLst>
    <p:embeddedFont>
      <p:font typeface="Raleway"/>
      <p:regular r:id="rId46"/>
      <p:bold r:id="rId47"/>
      <p:italic r:id="rId48"/>
      <p:boldItalic r:id="rId49"/>
    </p:embeddedFont>
    <p:embeddedFont>
      <p:font typeface="Playfair Display"/>
      <p:regular r:id="rId50"/>
      <p:bold r:id="rId51"/>
      <p:italic r:id="rId52"/>
      <p:boldItalic r:id="rId53"/>
    </p:embeddedFont>
    <p:embeddedFont>
      <p:font typeface="Lato"/>
      <p:regular r:id="rId54"/>
      <p:bold r:id="rId55"/>
      <p:italic r:id="rId56"/>
      <p:boldItalic r:id="rId57"/>
    </p:embeddedFont>
    <p:embeddedFont>
      <p:font typeface="Montserrat"/>
      <p:regular r:id="rId58"/>
      <p:bold r:id="rId59"/>
      <p:italic r:id="rId60"/>
      <p:boldItalic r:id="rId61"/>
    </p:embeddedFont>
    <p:embeddedFont>
      <p:font typeface="Oswald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1B2C0C4-CA64-46EB-A196-ECC89AFD30AD}">
  <a:tblStyle styleId="{11B2C0C4-CA64-46EB-A196-ECC89AFD30A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font" Target="fonts/Raleway-regular.fntdata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Raleway-italic.fntdata"/><Relationship Id="rId47" Type="http://schemas.openxmlformats.org/officeDocument/2006/relationships/font" Target="fonts/Raleway-bold.fntdata"/><Relationship Id="rId49" Type="http://schemas.openxmlformats.org/officeDocument/2006/relationships/font" Target="fonts/Raleway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Oswald-regular.fntdata"/><Relationship Id="rId61" Type="http://schemas.openxmlformats.org/officeDocument/2006/relationships/font" Target="fonts/Montserrat-boldItalic.fntdata"/><Relationship Id="rId20" Type="http://schemas.openxmlformats.org/officeDocument/2006/relationships/slide" Target="slides/slide13.xml"/><Relationship Id="rId63" Type="http://schemas.openxmlformats.org/officeDocument/2006/relationships/font" Target="fonts/Oswald-bold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0" Type="http://schemas.openxmlformats.org/officeDocument/2006/relationships/font" Target="fonts/Montserrat-italic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PlayfairDisplay-bold.fntdata"/><Relationship Id="rId50" Type="http://schemas.openxmlformats.org/officeDocument/2006/relationships/font" Target="fonts/PlayfairDisplay-regular.fntdata"/><Relationship Id="rId53" Type="http://schemas.openxmlformats.org/officeDocument/2006/relationships/font" Target="fonts/PlayfairDisplay-boldItalic.fntdata"/><Relationship Id="rId52" Type="http://schemas.openxmlformats.org/officeDocument/2006/relationships/font" Target="fonts/PlayfairDisplay-italic.fntdata"/><Relationship Id="rId11" Type="http://schemas.openxmlformats.org/officeDocument/2006/relationships/slide" Target="slides/slide4.xml"/><Relationship Id="rId55" Type="http://schemas.openxmlformats.org/officeDocument/2006/relationships/font" Target="fonts/Lato-bold.fntdata"/><Relationship Id="rId10" Type="http://schemas.openxmlformats.org/officeDocument/2006/relationships/slide" Target="slides/slide3.xml"/><Relationship Id="rId54" Type="http://schemas.openxmlformats.org/officeDocument/2006/relationships/font" Target="fonts/Lato-regular.fntdata"/><Relationship Id="rId13" Type="http://schemas.openxmlformats.org/officeDocument/2006/relationships/slide" Target="slides/slide6.xml"/><Relationship Id="rId57" Type="http://schemas.openxmlformats.org/officeDocument/2006/relationships/font" Target="fonts/Lato-boldItalic.fntdata"/><Relationship Id="rId12" Type="http://schemas.openxmlformats.org/officeDocument/2006/relationships/slide" Target="slides/slide5.xml"/><Relationship Id="rId56" Type="http://schemas.openxmlformats.org/officeDocument/2006/relationships/font" Target="fonts/Lato-italic.fntdata"/><Relationship Id="rId15" Type="http://schemas.openxmlformats.org/officeDocument/2006/relationships/slide" Target="slides/slide8.xml"/><Relationship Id="rId59" Type="http://schemas.openxmlformats.org/officeDocument/2006/relationships/font" Target="fonts/Montserrat-bold.fntdata"/><Relationship Id="rId14" Type="http://schemas.openxmlformats.org/officeDocument/2006/relationships/slide" Target="slides/slide7.xml"/><Relationship Id="rId58" Type="http://schemas.openxmlformats.org/officeDocument/2006/relationships/font" Target="fonts/Montserrat-regular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c6f91993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c6f919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6baf71b06_0_187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c6baf71b06_0_18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c6f919934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c6f91993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c6f919934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c6f91993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6baf71b06_0_155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6baf71b06_0_1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c6f919934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c6f91993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6baf71b06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c6baf71b06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6baf71b06_0_1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c6baf71b06_0_1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6baf71b06_0_1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c6baf71b06_0_1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6baf71b06_0_1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c6baf71b06_0_1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6baf71b06_0_1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c6baf71b06_0_1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6baf71b06_0_1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c6baf71b06_0_1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c6f919934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c6f91993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c6baf71b06_0_156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c6baf71b06_0_1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c6baf71b06_0_156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c6baf71b06_0_1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6baf71b06_0_1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c6baf71b06_0_1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6baf71b06_0_1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c6baf71b06_0_1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6baf71b06_0_1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c6baf71b06_0_1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6baf71b06_0_1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c6baf71b06_0_1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6baf71b06_0_1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c6baf71b06_0_1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c6baf71b06_0_1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c6baf71b06_0_1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c6baf71b06_0_17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c6baf71b06_0_1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c6baf71b06_0_1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c6baf71b06_0_1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c6baf71b06_0_18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c6baf71b06_0_18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c6baf71b06_0_1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c6baf71b06_0_1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c6baf71b06_0_180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c6baf71b06_0_1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c6baf71b06_0_18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c6baf71b06_0_1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c6baf71b06_0_18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c6baf71b06_0_18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c6baf71b06_0_18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c6baf71b06_0_1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c6baf71b06_0_18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c6baf71b06_0_1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c6baf71b06_0_1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c6baf71b06_0_1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c6baf71b06_0_186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c6baf71b06_0_18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c6baf71b06_0_188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c6baf71b06_0_1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c6baf71b06_0_18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c6baf71b06_0_18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c6baf71b06_0_1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c6baf71b06_0_1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c6baf71b06_0_19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c6baf71b06_0_19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c6baf71b06_0_19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c6baf71b06_0_19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c6baf71b06_0_19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c6baf71b06_0_19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6" name="Google Shape;76;p14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4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1" name="Google Shape;81;p1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" name="Google Shape;89;p17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3" name="Google Shape;103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21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5" name="Google Shape;105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6" name="Google Shape;10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107" name="Google Shape;107;p2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3" name="Google Shape;113;p23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114" name="Google Shape;114;p2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hyperlink" Target="https://qr.codes/2XQevB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platform.openai.com/tokenizer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huggingface.co/spaces/mteb/leaderboard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gandalf.lakera.ai/baseline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5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build a (biased) RAG</a:t>
            </a:r>
            <a:endParaRPr/>
          </a:p>
        </p:txBody>
      </p:sp>
      <p:sp>
        <p:nvSpPr>
          <p:cNvPr id="122" name="Google Shape;122;p25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February 13, 2026						Zoryana Paliy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6" title="2XQevB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475" y="558725"/>
            <a:ext cx="4026051" cy="402605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6"/>
          <p:cNvSpPr txBox="1"/>
          <p:nvPr/>
        </p:nvSpPr>
        <p:spPr>
          <a:xfrm>
            <a:off x="4815050" y="2338075"/>
            <a:ext cx="35418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54F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qr.codes/2XQevB</a:t>
            </a:r>
            <a:endParaRPr sz="3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/>
          <p:nvPr>
            <p:ph type="title"/>
          </p:nvPr>
        </p:nvSpPr>
        <p:spPr>
          <a:xfrm>
            <a:off x="265500" y="1718250"/>
            <a:ext cx="4045200" cy="170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34" name="Google Shape;134;p2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Chunk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Embed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Store / Retrieve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prompts with context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Talk to LLMs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Compare results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</a:t>
            </a:r>
            <a:endParaRPr/>
          </a:p>
        </p:txBody>
      </p:sp>
      <p:sp>
        <p:nvSpPr>
          <p:cNvPr id="140" name="Google Shape;140;p28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nltk - Natural Language Toolkit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fastembed - free library of embedding models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tiktoken - BytePairEncoding tokenizer for OpenAI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openai - library for OpenAI API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google-genai </a:t>
            </a:r>
            <a:r>
              <a:rPr lang="en"/>
              <a:t>- library for Gemini API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requests - talk to a free LLM (mlvoca, tinyllama)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Chunk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chunking</a:t>
            </a:r>
            <a:endParaRPr/>
          </a:p>
        </p:txBody>
      </p:sp>
      <p:sp>
        <p:nvSpPr>
          <p:cNvPr id="151" name="Google Shape;151;p30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Why do we need chunks?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What is tokenization?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What is a token?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Why do we need tokenization?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Why do we need overlaps?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Optimal chunk sizes.</a:t>
            </a:r>
            <a:endParaRPr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1"/>
          <p:cNvSpPr txBox="1"/>
          <p:nvPr>
            <p:ph type="title"/>
          </p:nvPr>
        </p:nvSpPr>
        <p:spPr>
          <a:xfrm>
            <a:off x="265500" y="72420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Why do we need chunks?</a:t>
            </a:r>
            <a:endParaRPr sz="3600"/>
          </a:p>
        </p:txBody>
      </p:sp>
      <p:sp>
        <p:nvSpPr>
          <p:cNvPr id="157" name="Google Shape;157;p31"/>
          <p:cNvSpPr txBox="1"/>
          <p:nvPr>
            <p:ph idx="1" type="subTitle"/>
          </p:nvPr>
        </p:nvSpPr>
        <p:spPr>
          <a:xfrm>
            <a:off x="265500" y="2425227"/>
            <a:ext cx="4045200" cy="18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LLMs cannot read entire </a:t>
            </a:r>
            <a:br>
              <a:rPr lang="en" sz="1800"/>
            </a:br>
            <a:r>
              <a:rPr lang="en" sz="1800"/>
              <a:t>documents at once.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/>
              <a:t>Documents need to be split into smaller, meaningful pieces called </a:t>
            </a:r>
            <a:r>
              <a:rPr b="1" i="1" lang="en" sz="1800"/>
              <a:t>chunks</a:t>
            </a:r>
            <a:r>
              <a:rPr lang="en" sz="1800"/>
              <a:t>.</a:t>
            </a:r>
            <a:endParaRPr sz="1800"/>
          </a:p>
        </p:txBody>
      </p:sp>
      <p:sp>
        <p:nvSpPr>
          <p:cNvPr id="158" name="Google Shape;158;p3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LLMs: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Have a limited context window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Process text in tokens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Work best with focused, relevant input.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Chunking allows us to: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Store documents efficiently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Embed smaller semantic units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Retrieve only relevant parts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Reduce cost and noise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2"/>
          <p:cNvSpPr txBox="1"/>
          <p:nvPr>
            <p:ph type="title"/>
          </p:nvPr>
        </p:nvSpPr>
        <p:spPr>
          <a:xfrm>
            <a:off x="265500" y="72420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Wh</a:t>
            </a:r>
            <a:r>
              <a:rPr lang="en"/>
              <a:t>at is tokenization</a:t>
            </a:r>
            <a:r>
              <a:rPr lang="en" sz="3600"/>
              <a:t>?</a:t>
            </a:r>
            <a:endParaRPr sz="3600"/>
          </a:p>
        </p:txBody>
      </p:sp>
      <p:sp>
        <p:nvSpPr>
          <p:cNvPr id="164" name="Google Shape;164;p32"/>
          <p:cNvSpPr txBox="1"/>
          <p:nvPr>
            <p:ph idx="1" type="subTitle"/>
          </p:nvPr>
        </p:nvSpPr>
        <p:spPr>
          <a:xfrm>
            <a:off x="265500" y="2425227"/>
            <a:ext cx="4045200" cy="18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r>
              <a:rPr lang="en" sz="1800"/>
              <a:t>plitting text into smaller computational units.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/>
              <a:t>! Not meaningful units, but computational units.</a:t>
            </a:r>
            <a:endParaRPr sz="1800"/>
          </a:p>
        </p:txBody>
      </p:sp>
      <p:sp>
        <p:nvSpPr>
          <p:cNvPr id="165" name="Google Shape;165;p3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LLMs do not process text as sentences or words.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They process it as tokens.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Example: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"I love linguistics." -&gt;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["I", " love", " lingu", "istics", "."]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Tokenization differs across tokenizers (different tokens and different amount of tokens).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3"/>
          <p:cNvSpPr txBox="1"/>
          <p:nvPr>
            <p:ph type="title"/>
          </p:nvPr>
        </p:nvSpPr>
        <p:spPr>
          <a:xfrm>
            <a:off x="265500" y="72420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Wh</a:t>
            </a:r>
            <a:r>
              <a:rPr lang="en"/>
              <a:t>at is a token</a:t>
            </a:r>
            <a:r>
              <a:rPr lang="en" sz="3600"/>
              <a:t>?</a:t>
            </a:r>
            <a:endParaRPr sz="3600"/>
          </a:p>
        </p:txBody>
      </p:sp>
      <p:sp>
        <p:nvSpPr>
          <p:cNvPr id="171" name="Google Shape;171;p33"/>
          <p:cNvSpPr txBox="1"/>
          <p:nvPr>
            <p:ph idx="1" type="subTitle"/>
          </p:nvPr>
        </p:nvSpPr>
        <p:spPr>
          <a:xfrm>
            <a:off x="265500" y="2425227"/>
            <a:ext cx="4045200" cy="18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Token is a smallest </a:t>
            </a:r>
            <a:br>
              <a:rPr lang="en" sz="1800"/>
            </a:br>
            <a:r>
              <a:rPr lang="en" sz="1800"/>
              <a:t>computational unit </a:t>
            </a:r>
            <a:br>
              <a:rPr lang="en" sz="1800"/>
            </a:br>
            <a:r>
              <a:rPr lang="en" sz="1800"/>
              <a:t>the model processes.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Tokenizer - OpenAI API</a:t>
            </a:r>
            <a:endParaRPr sz="1800"/>
          </a:p>
        </p:txBody>
      </p:sp>
      <p:sp>
        <p:nvSpPr>
          <p:cNvPr id="172" name="Google Shape;172;p33"/>
          <p:cNvSpPr txBox="1"/>
          <p:nvPr>
            <p:ph idx="2" type="body"/>
          </p:nvPr>
        </p:nvSpPr>
        <p:spPr>
          <a:xfrm>
            <a:off x="4939500" y="724200"/>
            <a:ext cx="3837000" cy="389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600"/>
              <a:t>Compare:</a:t>
            </a:r>
            <a:endParaRPr sz="1600"/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600"/>
              <a:t>In linguistics the smallest meaningful unit is a morpheme:</a:t>
            </a:r>
            <a:endParaRPr sz="1600"/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600"/>
              <a:t>unhappiness</a:t>
            </a:r>
            <a:endParaRPr sz="1600"/>
          </a:p>
          <a:p>
            <a:pPr indent="-33020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un- (negation)</a:t>
            </a:r>
            <a:endParaRPr sz="1600"/>
          </a:p>
          <a:p>
            <a:pPr indent="-330200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happy (root)</a:t>
            </a:r>
            <a:endParaRPr sz="1600"/>
          </a:p>
          <a:p>
            <a:pPr indent="-330200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-ness (noun forming)</a:t>
            </a:r>
            <a:endParaRPr sz="1600"/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600"/>
              <a:t>Tokenization in LLMs is not </a:t>
            </a:r>
            <a:r>
              <a:rPr lang="en" sz="1600"/>
              <a:t>morphological.</a:t>
            </a:r>
            <a:endParaRPr sz="1600"/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600"/>
              <a:t>It is statistical and compression-based.</a:t>
            </a:r>
            <a:endParaRPr sz="16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600"/>
              <a:t>unhappiness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["un", "happi", "ness"]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["unh", "app", "iness"]</a:t>
            </a:r>
            <a:endParaRPr sz="16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/>
          <p:nvPr>
            <p:ph type="title"/>
          </p:nvPr>
        </p:nvSpPr>
        <p:spPr>
          <a:xfrm>
            <a:off x="265500" y="72420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we need tokenization</a:t>
            </a:r>
            <a:r>
              <a:rPr lang="en" sz="3600"/>
              <a:t>?</a:t>
            </a:r>
            <a:endParaRPr sz="3600"/>
          </a:p>
        </p:txBody>
      </p:sp>
      <p:sp>
        <p:nvSpPr>
          <p:cNvPr id="178" name="Google Shape;178;p34"/>
          <p:cNvSpPr txBox="1"/>
          <p:nvPr>
            <p:ph idx="1" type="subTitle"/>
          </p:nvPr>
        </p:nvSpPr>
        <p:spPr>
          <a:xfrm>
            <a:off x="265500" y="2425227"/>
            <a:ext cx="4045200" cy="18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/>
              <a:t>We need token-based chunking because LLMs “think” in tokens, </a:t>
            </a:r>
            <a:br>
              <a:rPr lang="en" sz="1800"/>
            </a:br>
            <a:r>
              <a:rPr lang="en" sz="1800"/>
              <a:t>not words or sentences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800"/>
          </a:p>
        </p:txBody>
      </p:sp>
      <p:sp>
        <p:nvSpPr>
          <p:cNvPr id="179" name="Google Shape;179;p3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Embeddings have token limits.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LLMs have context window limits.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Pricing is based on tokens.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Overlaps must be measured in tokens to be consistent.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chunking on words or sentences, we would be guessing the amount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5"/>
          <p:cNvSpPr txBox="1"/>
          <p:nvPr>
            <p:ph type="title"/>
          </p:nvPr>
        </p:nvSpPr>
        <p:spPr>
          <a:xfrm>
            <a:off x="265500" y="72420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r>
              <a:rPr b="0" lang="en" sz="1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/>
              <a:t>do we need overlaps?</a:t>
            </a:r>
            <a:endParaRPr/>
          </a:p>
        </p:txBody>
      </p:sp>
      <p:sp>
        <p:nvSpPr>
          <p:cNvPr id="185" name="Google Shape;185;p35"/>
          <p:cNvSpPr txBox="1"/>
          <p:nvPr>
            <p:ph idx="1" type="subTitle"/>
          </p:nvPr>
        </p:nvSpPr>
        <p:spPr>
          <a:xfrm>
            <a:off x="265500" y="2425227"/>
            <a:ext cx="4045200" cy="18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800"/>
              <a:t>Chunks split text into separate pieces.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/>
              <a:t>But meaning often crosses boundaries.</a:t>
            </a:r>
            <a:endParaRPr sz="1800"/>
          </a:p>
        </p:txBody>
      </p:sp>
      <p:sp>
        <p:nvSpPr>
          <p:cNvPr id="186" name="Google Shape;186;p3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4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0426"/>
              <a:buFont typeface="Arial"/>
              <a:buNone/>
            </a:pPr>
            <a:r>
              <a:rPr lang="en" sz="3615"/>
              <a:t>Without overlap:</a:t>
            </a:r>
            <a:endParaRPr sz="361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0426"/>
              <a:buFont typeface="Arial"/>
              <a:buNone/>
            </a:pPr>
            <a:r>
              <a:rPr lang="en" sz="3615"/>
              <a:t>Chunk 1: The suspect denied being</a:t>
            </a:r>
            <a:endParaRPr sz="361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0426"/>
              <a:buFont typeface="Arial"/>
              <a:buNone/>
            </a:pPr>
            <a:r>
              <a:rPr lang="en" sz="3615"/>
              <a:t>Chunk 2: present at the scene.</a:t>
            </a:r>
            <a:endParaRPr sz="361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0426"/>
              <a:buFont typeface="Arial"/>
              <a:buNone/>
            </a:pPr>
            <a:r>
              <a:t/>
            </a:r>
            <a:endParaRPr sz="361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0426"/>
              <a:buFont typeface="Arial"/>
              <a:buNone/>
            </a:pPr>
            <a:r>
              <a:rPr lang="en" sz="3615"/>
              <a:t>With overlap:</a:t>
            </a:r>
            <a:endParaRPr sz="361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0426"/>
              <a:buFont typeface="Arial"/>
              <a:buNone/>
            </a:pPr>
            <a:r>
              <a:rPr lang="en" sz="3615"/>
              <a:t>Chunk 1: The suspect denied being present</a:t>
            </a:r>
            <a:endParaRPr sz="361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0426"/>
              <a:buFont typeface="Arial"/>
              <a:buNone/>
            </a:pPr>
            <a:r>
              <a:rPr lang="en" sz="3615"/>
              <a:t>Chunk 2: being present at the scene</a:t>
            </a:r>
            <a:endParaRPr sz="361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0426"/>
              <a:buFont typeface="Arial"/>
              <a:buNone/>
            </a:pPr>
            <a:r>
              <a:t/>
            </a:r>
            <a:endParaRPr sz="361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0426"/>
              <a:buFont typeface="Arial"/>
              <a:buNone/>
            </a:pPr>
            <a:r>
              <a:rPr lang="en" sz="3615"/>
              <a:t>Preserve semantic continuity</a:t>
            </a:r>
            <a:endParaRPr sz="361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0426"/>
              <a:buFont typeface="Arial"/>
              <a:buNone/>
            </a:pPr>
            <a:r>
              <a:rPr lang="en" sz="3615"/>
              <a:t>Prevent information loss at borders</a:t>
            </a:r>
            <a:endParaRPr sz="361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0426"/>
              <a:buFont typeface="Arial"/>
              <a:buNone/>
            </a:pPr>
            <a:r>
              <a:rPr lang="en" sz="3615"/>
              <a:t>Improve retrieval accuracy</a:t>
            </a:r>
            <a:endParaRPr sz="361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15"/>
              <a:t>Reduce hallucination risk.</a:t>
            </a:r>
            <a:endParaRPr sz="361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1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15"/>
              <a:t>Typical overlap:</a:t>
            </a:r>
            <a:endParaRPr sz="361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0426"/>
              <a:buFont typeface="Arial"/>
              <a:buNone/>
            </a:pPr>
            <a:r>
              <a:rPr lang="en" sz="3615"/>
              <a:t>10–20% of chunk size</a:t>
            </a:r>
            <a:endParaRPr sz="3615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6"/>
          <p:cNvSpPr txBox="1"/>
          <p:nvPr>
            <p:ph type="title"/>
          </p:nvPr>
        </p:nvSpPr>
        <p:spPr>
          <a:xfrm>
            <a:off x="265500" y="72420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Optimal chunk sizes</a:t>
            </a:r>
            <a:endParaRPr/>
          </a:p>
        </p:txBody>
      </p:sp>
      <p:sp>
        <p:nvSpPr>
          <p:cNvPr id="192" name="Google Shape;192;p36"/>
          <p:cNvSpPr txBox="1"/>
          <p:nvPr>
            <p:ph idx="1" type="subTitle"/>
          </p:nvPr>
        </p:nvSpPr>
        <p:spPr>
          <a:xfrm>
            <a:off x="265500" y="2425225"/>
            <a:ext cx="4045200" cy="24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There is no universal “perfect” size.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| Use case                     | Chunk size               |  —---------------------   —-------------------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| Short factual text | 200–400 tokens   |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| Analytical text       | 400–800 tokens   |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| Narrative text       | 500–1000 tokens |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We’ll use 500 tokens, 100 tokens overlap.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3" name="Google Shape;193;p3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Depends on: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Document type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Retrieval goal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Model context window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Cost constraints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not too small?</a:t>
            </a:r>
            <a:endParaRPr/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Too fragmented</a:t>
            </a:r>
            <a:endParaRPr/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Loss of context</a:t>
            </a:r>
            <a:endParaRPr/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Retrieval becomes noisy</a:t>
            </a:r>
            <a:endParaRPr/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not too large?</a:t>
            </a:r>
            <a:endParaRPr/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Irrelevant information included</a:t>
            </a:r>
            <a:endParaRPr/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More expensive</a:t>
            </a:r>
            <a:endParaRPr/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49789"/>
              <a:buChar char="●"/>
            </a:pPr>
            <a:r>
              <a:rPr lang="en"/>
              <a:t>Reduced retrieval precision</a:t>
            </a:r>
            <a:endParaRPr sz="3615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>
            <p:ph type="title"/>
          </p:nvPr>
        </p:nvSpPr>
        <p:spPr>
          <a:xfrm>
            <a:off x="283100" y="712150"/>
            <a:ext cx="85176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Chunking is a trade-off between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preservation and retrieval precision.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8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Embed. </a:t>
            </a:r>
            <a:r>
              <a:rPr lang="en"/>
              <a:t>Store. Retrieve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embeddings</a:t>
            </a:r>
            <a:endParaRPr/>
          </a:p>
        </p:txBody>
      </p:sp>
      <p:sp>
        <p:nvSpPr>
          <p:cNvPr id="209" name="Google Shape;209;p39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What are </a:t>
            </a:r>
            <a:r>
              <a:rPr lang="en" sz="1700"/>
              <a:t>embeddings</a:t>
            </a:r>
            <a:r>
              <a:rPr lang="en" sz="1700"/>
              <a:t>?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Why do we need embeddings?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How do we store embeddings?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What is vector search</a:t>
            </a:r>
            <a:r>
              <a:rPr lang="en" sz="1700"/>
              <a:t>?</a:t>
            </a:r>
            <a:endParaRPr sz="1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0"/>
          <p:cNvSpPr txBox="1"/>
          <p:nvPr>
            <p:ph type="title"/>
          </p:nvPr>
        </p:nvSpPr>
        <p:spPr>
          <a:xfrm>
            <a:off x="265500" y="72420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Wh</a:t>
            </a:r>
            <a:r>
              <a:rPr lang="en"/>
              <a:t>at are embeddings</a:t>
            </a:r>
            <a:r>
              <a:rPr lang="en" sz="3600"/>
              <a:t>?</a:t>
            </a:r>
            <a:endParaRPr sz="3600"/>
          </a:p>
        </p:txBody>
      </p:sp>
      <p:sp>
        <p:nvSpPr>
          <p:cNvPr id="215" name="Google Shape;215;p40"/>
          <p:cNvSpPr txBox="1"/>
          <p:nvPr>
            <p:ph idx="1" type="subTitle"/>
          </p:nvPr>
        </p:nvSpPr>
        <p:spPr>
          <a:xfrm>
            <a:off x="265500" y="2425227"/>
            <a:ext cx="4045200" cy="18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/>
              <a:t>Embeddings are numerical vector </a:t>
            </a:r>
            <a:br>
              <a:rPr lang="en" sz="1800"/>
            </a:br>
            <a:r>
              <a:rPr lang="en" sz="1800"/>
              <a:t>representations of text that capture semantic meaning.</a:t>
            </a:r>
            <a:endParaRPr sz="1800"/>
          </a:p>
        </p:txBody>
      </p:sp>
      <p:sp>
        <p:nvSpPr>
          <p:cNvPr id="216" name="Google Shape;216;p4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4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71"/>
              <a:t>"The moon is round"</a:t>
            </a:r>
            <a:endParaRPr sz="317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71"/>
              <a:t>→ [0.012, -0.887, 0.331, ..., 0.004]</a:t>
            </a:r>
            <a:endParaRPr sz="317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7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71"/>
              <a:t>Modern embedding model dimensions commonly range from 256 to 4096, with 768 and 1536 being typical for representing semantic information efficiently.</a:t>
            </a:r>
            <a:endParaRPr sz="317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7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71"/>
              <a:t>Higher dimensions = capture more nuance</a:t>
            </a:r>
            <a:endParaRPr sz="317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71"/>
              <a:t>Lower dimensions = fast and need less storage</a:t>
            </a:r>
            <a:endParaRPr sz="317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7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71"/>
              <a:t>Key idea of embeddings: Texts with similar meaning → vectors close together in space.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1" title="word2ve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921" y="406663"/>
            <a:ext cx="5773526" cy="4330174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1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simple example from the last decade</a:t>
            </a:r>
            <a:endParaRPr sz="3600"/>
          </a:p>
        </p:txBody>
      </p:sp>
      <p:sp>
        <p:nvSpPr>
          <p:cNvPr id="223" name="Google Shape;223;p41"/>
          <p:cNvSpPr txBox="1"/>
          <p:nvPr/>
        </p:nvSpPr>
        <p:spPr>
          <a:xfrm>
            <a:off x="319500" y="1630850"/>
            <a:ext cx="2991000" cy="75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3000">
                <a:solidFill>
                  <a:schemeClr val="dk2"/>
                </a:solidFill>
                <a:highlight>
                  <a:srgbClr val="F8E71C"/>
                </a:highlight>
                <a:latin typeface="Oswald"/>
                <a:ea typeface="Oswald"/>
                <a:cs typeface="Oswald"/>
                <a:sym typeface="Oswald"/>
              </a:rPr>
              <a:t>Word2Vec</a:t>
            </a:r>
            <a:r>
              <a:rPr lang="en" sz="3000">
                <a:solidFill>
                  <a:schemeClr val="dk2"/>
                </a:solidFill>
                <a:highlight>
                  <a:schemeClr val="lt1"/>
                </a:highlight>
                <a:latin typeface="Oswald"/>
                <a:ea typeface="Oswald"/>
                <a:cs typeface="Oswald"/>
                <a:sym typeface="Oswald"/>
              </a:rPr>
              <a:t> (2013)</a:t>
            </a:r>
            <a:endParaRPr sz="1800">
              <a:solidFill>
                <a:schemeClr val="dk2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4" name="Google Shape;224;p41"/>
          <p:cNvSpPr txBox="1"/>
          <p:nvPr/>
        </p:nvSpPr>
        <p:spPr>
          <a:xfrm>
            <a:off x="319500" y="2386550"/>
            <a:ext cx="3523200" cy="24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Predict word context using a shallow neural network.</a:t>
            </a:r>
            <a:endParaRPr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2"/>
                </a:solidFill>
                <a:highlight>
                  <a:srgbClr val="F8E71C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KEY IDEA</a:t>
            </a:r>
            <a:r>
              <a:rPr lang="en">
                <a:solidFill>
                  <a:schemeClr val="dk2"/>
                </a:solidFill>
                <a:highlight>
                  <a:schemeClr val="lt1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Words that appear in similar contexts have similar meaning.</a:t>
            </a:r>
            <a:endParaRPr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If “cat” and “dog” appear near words like “pet,” “food,” “cute,” they’ll end up with </a:t>
            </a:r>
            <a:r>
              <a:rPr b="1" lang="en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similar embeddings</a:t>
            </a:r>
            <a:r>
              <a:rPr lang="en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2"/>
          <p:cNvSpPr txBox="1"/>
          <p:nvPr>
            <p:ph type="title"/>
          </p:nvPr>
        </p:nvSpPr>
        <p:spPr>
          <a:xfrm>
            <a:off x="265500" y="72420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we need embeddings?</a:t>
            </a:r>
            <a:endParaRPr/>
          </a:p>
        </p:txBody>
      </p:sp>
      <p:sp>
        <p:nvSpPr>
          <p:cNvPr id="230" name="Google Shape;230;p42"/>
          <p:cNvSpPr txBox="1"/>
          <p:nvPr>
            <p:ph idx="1" type="subTitle"/>
          </p:nvPr>
        </p:nvSpPr>
        <p:spPr>
          <a:xfrm>
            <a:off x="265500" y="2425227"/>
            <a:ext cx="4045200" cy="18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With embeddings 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meaning 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/>
              <a:t>becomes geometry.</a:t>
            </a:r>
            <a:endParaRPr sz="1800"/>
          </a:p>
        </p:txBody>
      </p:sp>
      <p:sp>
        <p:nvSpPr>
          <p:cNvPr id="231" name="Google Shape;231;p4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4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71"/>
              <a:t>Computers cannot compare meaning directly, but they can compare numbers.</a:t>
            </a:r>
            <a:endParaRPr sz="317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34688"/>
              <a:buFont typeface="Arial"/>
              <a:buNone/>
            </a:pPr>
            <a:r>
              <a:rPr lang="en" sz="3171"/>
              <a:t>Without embeddings:</a:t>
            </a:r>
            <a:endParaRPr sz="3171"/>
          </a:p>
          <a:p>
            <a:pPr indent="-324246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3171"/>
              <a:t>We can only search by keywords.</a:t>
            </a:r>
            <a:endParaRPr sz="3171"/>
          </a:p>
          <a:p>
            <a:pPr indent="-32424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171"/>
              <a:t>“automobile” ≠ “car”</a:t>
            </a:r>
            <a:endParaRPr sz="3171"/>
          </a:p>
          <a:p>
            <a:pPr indent="-32424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171"/>
              <a:t>“error analysis” ≠ “mistake examination”</a:t>
            </a:r>
            <a:endParaRPr sz="317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34688"/>
              <a:buFont typeface="Arial"/>
              <a:buNone/>
            </a:pPr>
            <a:r>
              <a:rPr lang="en" sz="3171"/>
              <a:t>With embeddings:</a:t>
            </a:r>
            <a:endParaRPr sz="317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34688"/>
              <a:buFont typeface="Arial"/>
              <a:buNone/>
            </a:pPr>
            <a:r>
              <a:rPr lang="en" sz="3171"/>
              <a:t>We search by semantic similarity, not exact wording.</a:t>
            </a:r>
            <a:endParaRPr sz="317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17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3"/>
          <p:cNvSpPr txBox="1"/>
          <p:nvPr>
            <p:ph type="title"/>
          </p:nvPr>
        </p:nvSpPr>
        <p:spPr>
          <a:xfrm>
            <a:off x="265500" y="72420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store embeddings?</a:t>
            </a:r>
            <a:endParaRPr/>
          </a:p>
        </p:txBody>
      </p:sp>
      <p:sp>
        <p:nvSpPr>
          <p:cNvPr id="237" name="Google Shape;237;p43"/>
          <p:cNvSpPr txBox="1"/>
          <p:nvPr>
            <p:ph idx="1" type="subTitle"/>
          </p:nvPr>
        </p:nvSpPr>
        <p:spPr>
          <a:xfrm>
            <a:off x="265500" y="2425227"/>
            <a:ext cx="4045200" cy="18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/>
              <a:t>We store embedding vectors in a database that allows fast similarity search.</a:t>
            </a:r>
            <a:endParaRPr sz="1800"/>
          </a:p>
        </p:txBody>
      </p:sp>
      <p:sp>
        <p:nvSpPr>
          <p:cNvPr id="238" name="Google Shape;238;p4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rPr lang="en"/>
              <a:t>We store: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 text chunk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 embedding vector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In: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SQLite (as BLOB or JSON) - veeery basic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PostgreSQL + pgvector (extension for vector search)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LanceDB -  multimodal vector database </a:t>
            </a:r>
            <a:endParaRPr/>
          </a:p>
          <a:p>
            <a:pPr indent="-30861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FAISS  (Facebook AI Similarity Search) - open-source library for similarity search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17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4"/>
          <p:cNvSpPr txBox="1"/>
          <p:nvPr>
            <p:ph type="title"/>
          </p:nvPr>
        </p:nvSpPr>
        <p:spPr>
          <a:xfrm>
            <a:off x="265500" y="72420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vector search?</a:t>
            </a:r>
            <a:endParaRPr/>
          </a:p>
        </p:txBody>
      </p:sp>
      <p:sp>
        <p:nvSpPr>
          <p:cNvPr id="244" name="Google Shape;244;p44"/>
          <p:cNvSpPr txBox="1"/>
          <p:nvPr>
            <p:ph idx="1" type="subTitle"/>
          </p:nvPr>
        </p:nvSpPr>
        <p:spPr>
          <a:xfrm>
            <a:off x="265500" y="2425225"/>
            <a:ext cx="4399200" cy="18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We find similar concepts by comparing embedding vectors with each other. </a:t>
            </a:r>
            <a:br>
              <a:rPr lang="en" sz="1800"/>
            </a:br>
            <a:r>
              <a:rPr lang="en" sz="1800"/>
              <a:t>If vectors are similar, concepts are similar.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/>
              <a:t>Standard method for similarity search in RAGs is using cosine similarity. </a:t>
            </a:r>
            <a:endParaRPr sz="1800"/>
          </a:p>
        </p:txBody>
      </p:sp>
      <p:pic>
        <p:nvPicPr>
          <p:cNvPr id="245" name="Google Shape;245;p44" title="cos_si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2525" y="784388"/>
            <a:ext cx="4591474" cy="3574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Cosine Similarity</a:t>
            </a:r>
            <a:endParaRPr/>
          </a:p>
        </p:txBody>
      </p:sp>
      <p:sp>
        <p:nvSpPr>
          <p:cNvPr id="251" name="Google Shape;251;p45"/>
          <p:cNvSpPr txBox="1"/>
          <p:nvPr/>
        </p:nvSpPr>
        <p:spPr>
          <a:xfrm>
            <a:off x="2932700" y="200525"/>
            <a:ext cx="5351700" cy="11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 = [ 2 1 1 1 1 0 0 0 0 ] </a:t>
            </a:r>
            <a:r>
              <a:rPr lang="en" sz="16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 cat sleeps on a sofa. </a:t>
            </a:r>
            <a:endParaRPr sz="16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</a:t>
            </a:r>
            <a:r>
              <a:rPr baseline="-25000" lang="en" sz="16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</a:t>
            </a:r>
            <a:r>
              <a:rPr lang="en" sz="16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​ = </a:t>
            </a:r>
            <a:r>
              <a:rPr lang="en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[ 2 0 1 1 1 0 1 0 0 ] </a:t>
            </a:r>
            <a:r>
              <a:rPr lang="en" sz="16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 dog sleeps on a sofa. </a:t>
            </a:r>
            <a:endParaRPr sz="16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</a:t>
            </a:r>
            <a:r>
              <a:rPr baseline="-25000" lang="en" sz="16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r>
              <a:rPr lang="en" sz="16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​ = </a:t>
            </a:r>
            <a:r>
              <a:rPr lang="en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[ 0 0 0 0 0 0 1 1 1 ] </a:t>
            </a:r>
            <a:r>
              <a:rPr lang="en" sz="16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Pizza is delicious. </a:t>
            </a:r>
            <a:endParaRPr sz="16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52" name="Google Shape;252;p45"/>
          <p:cNvSpPr txBox="1"/>
          <p:nvPr/>
        </p:nvSpPr>
        <p:spPr>
          <a:xfrm>
            <a:off x="442375" y="1253193"/>
            <a:ext cx="80838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Dot product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aphicFrame>
        <p:nvGraphicFramePr>
          <p:cNvPr id="253" name="Google Shape;253;p45"/>
          <p:cNvGraphicFramePr/>
          <p:nvPr/>
        </p:nvGraphicFramePr>
        <p:xfrm>
          <a:off x="476250" y="16806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{11B2C0C4-CA64-46EB-A196-ECC89AFD30AD}</a:tableStyleId>
              </a:tblPr>
              <a:tblGrid>
                <a:gridCol w="4145900"/>
                <a:gridCol w="4145900"/>
              </a:tblGrid>
              <a:tr h="7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v ⋅ </a:t>
                      </a: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u</a:t>
                      </a:r>
                      <a:r>
                        <a:rPr b="1" baseline="-25000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1</a:t>
                      </a: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​ </a:t>
                      </a:r>
                      <a:r>
                        <a:rPr lang="en" sz="16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= 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2*2 + 1*0 + 1*1 + 1*1 + 1*1 + 0*0 + 0*1 + 0*0 + 0*0 = 4 + 0 + 1 + 1 + 1 + 0 + 0 + 0</a:t>
                      </a:r>
                      <a:r>
                        <a:rPr lang="en" sz="16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 =</a:t>
                      </a:r>
                      <a:r>
                        <a:rPr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 </a:t>
                      </a: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7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v ⋅ u</a:t>
                      </a:r>
                      <a:r>
                        <a:rPr b="1" baseline="-25000" lang="en" sz="16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</a:t>
                      </a:r>
                      <a:r>
                        <a:rPr b="1" lang="en" sz="16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​</a:t>
                      </a:r>
                      <a:r>
                        <a:rPr lang="en" sz="16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 = 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2*0 + 1*0 + 1*0 + 1*0 + 1*0 + 0*0 + 0*1 + 0*1 + 0*1 = 0 + 0 + 0 + 0 + 0 + 0 + 0 + 0 </a:t>
                      </a:r>
                      <a:r>
                        <a:rPr lang="en" sz="16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= </a:t>
                      </a: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0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4" name="Google Shape;254;p45"/>
          <p:cNvSpPr txBox="1"/>
          <p:nvPr/>
        </p:nvSpPr>
        <p:spPr>
          <a:xfrm>
            <a:off x="454903" y="2778084"/>
            <a:ext cx="80838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Vector norms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aphicFrame>
        <p:nvGraphicFramePr>
          <p:cNvPr id="255" name="Google Shape;255;p45"/>
          <p:cNvGraphicFramePr/>
          <p:nvPr/>
        </p:nvGraphicFramePr>
        <p:xfrm>
          <a:off x="488778" y="32206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{11B2C0C4-CA64-46EB-A196-ECC89AFD30AD}</a:tableStyleId>
              </a:tblPr>
              <a:tblGrid>
                <a:gridCol w="2559050"/>
                <a:gridCol w="2811200"/>
                <a:gridCol w="2846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|| v ||</a:t>
                      </a:r>
                      <a:r>
                        <a:rPr lang="en"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 = </a:t>
                      </a: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√</a:t>
                      </a:r>
                      <a:r>
                        <a:rPr lang="en"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( 2</a:t>
                      </a:r>
                      <a:r>
                        <a:rPr baseline="30000" lang="en"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</a:t>
                      </a:r>
                      <a:r>
                        <a:rPr lang="en"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+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1</a:t>
                      </a:r>
                      <a:r>
                        <a:rPr baseline="30000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+1</a:t>
                      </a:r>
                      <a:r>
                        <a:rPr baseline="30000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+1</a:t>
                      </a:r>
                      <a:r>
                        <a:rPr baseline="30000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+1</a:t>
                      </a:r>
                      <a:r>
                        <a:rPr baseline="30000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+</a:t>
                      </a:r>
                      <a:endParaRPr>
                        <a:solidFill>
                          <a:schemeClr val="dk2"/>
                        </a:solidFill>
                        <a:latin typeface="Playfair Display"/>
                        <a:ea typeface="Playfair Display"/>
                        <a:cs typeface="Playfair Display"/>
                        <a:sym typeface="Playfair Display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+0</a:t>
                      </a:r>
                      <a:r>
                        <a:rPr baseline="30000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+0</a:t>
                      </a:r>
                      <a:r>
                        <a:rPr baseline="30000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+0</a:t>
                      </a:r>
                      <a:r>
                        <a:rPr baseline="30000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+0</a:t>
                      </a:r>
                      <a:r>
                        <a:rPr baseline="30000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) = </a:t>
                      </a: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√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(4+1+1+1+1) =</a:t>
                      </a: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 √8</a:t>
                      </a:r>
                      <a:endParaRPr b="1" baseline="30000" sz="2000">
                        <a:solidFill>
                          <a:schemeClr val="dk2"/>
                        </a:solidFill>
                        <a:latin typeface="Playfair Display"/>
                        <a:ea typeface="Playfair Display"/>
                        <a:cs typeface="Playfair Display"/>
                        <a:sym typeface="Playfair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|| u</a:t>
                      </a:r>
                      <a:r>
                        <a:rPr b="1" baseline="-25000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1</a:t>
                      </a: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 ||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 = </a:t>
                      </a: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√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( 2</a:t>
                      </a:r>
                      <a:r>
                        <a:rPr baseline="30000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+0</a:t>
                      </a:r>
                      <a:r>
                        <a:rPr baseline="30000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+1</a:t>
                      </a:r>
                      <a:r>
                        <a:rPr baseline="30000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+1</a:t>
                      </a:r>
                      <a:r>
                        <a:rPr baseline="30000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+</a:t>
                      </a:r>
                      <a:endParaRPr>
                        <a:solidFill>
                          <a:schemeClr val="dk2"/>
                        </a:solidFill>
                        <a:latin typeface="Playfair Display"/>
                        <a:ea typeface="Playfair Display"/>
                        <a:cs typeface="Playfair Display"/>
                        <a:sym typeface="Playfair Display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+1</a:t>
                      </a:r>
                      <a:r>
                        <a:rPr baseline="30000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+0</a:t>
                      </a:r>
                      <a:r>
                        <a:rPr baseline="30000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+1</a:t>
                      </a:r>
                      <a:r>
                        <a:rPr baseline="30000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+0</a:t>
                      </a:r>
                      <a:r>
                        <a:rPr baseline="30000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+0</a:t>
                      </a:r>
                      <a:r>
                        <a:rPr baseline="30000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) = </a:t>
                      </a: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√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(4+1+1+1+1) =</a:t>
                      </a: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 √8</a:t>
                      </a:r>
                      <a:endParaRPr b="1">
                        <a:latin typeface="Playfair Display"/>
                        <a:ea typeface="Playfair Display"/>
                        <a:cs typeface="Playfair Display"/>
                        <a:sym typeface="Playfair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|| u</a:t>
                      </a:r>
                      <a:r>
                        <a:rPr b="1" baseline="-25000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</a:t>
                      </a: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 ||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 = </a:t>
                      </a: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√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( 0</a:t>
                      </a:r>
                      <a:r>
                        <a:rPr baseline="30000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+0</a:t>
                      </a:r>
                      <a:r>
                        <a:rPr baseline="30000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+0</a:t>
                      </a:r>
                      <a:r>
                        <a:rPr baseline="30000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+0</a:t>
                      </a:r>
                      <a:r>
                        <a:rPr baseline="30000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+</a:t>
                      </a:r>
                      <a:endParaRPr>
                        <a:solidFill>
                          <a:schemeClr val="dk2"/>
                        </a:solidFill>
                        <a:latin typeface="Playfair Display"/>
                        <a:ea typeface="Playfair Display"/>
                        <a:cs typeface="Playfair Display"/>
                        <a:sym typeface="Playfair Display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+0</a:t>
                      </a:r>
                      <a:r>
                        <a:rPr baseline="30000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+0</a:t>
                      </a:r>
                      <a:r>
                        <a:rPr baseline="30000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+1</a:t>
                      </a:r>
                      <a:r>
                        <a:rPr baseline="30000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+1</a:t>
                      </a:r>
                      <a:r>
                        <a:rPr baseline="30000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+1</a:t>
                      </a:r>
                      <a:r>
                        <a:rPr baseline="30000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) = </a:t>
                      </a: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√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(1+1+1) =</a:t>
                      </a: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 √3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the winner is…</a:t>
            </a:r>
            <a:endParaRPr/>
          </a:p>
        </p:txBody>
      </p:sp>
      <p:graphicFrame>
        <p:nvGraphicFramePr>
          <p:cNvPr id="261" name="Google Shape;261;p46"/>
          <p:cNvGraphicFramePr/>
          <p:nvPr/>
        </p:nvGraphicFramePr>
        <p:xfrm>
          <a:off x="5451800" y="197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{11B2C0C4-CA64-46EB-A196-ECC89AFD30AD}</a:tableStyleId>
              </a:tblPr>
              <a:tblGrid>
                <a:gridCol w="1576650"/>
                <a:gridCol w="1576650"/>
              </a:tblGrid>
              <a:tr h="58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sim (</a:t>
                      </a: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v, u</a:t>
                      </a:r>
                      <a:r>
                        <a:rPr b="1" baseline="-25000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1</a:t>
                      </a: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​</a:t>
                      </a:r>
                      <a:r>
                        <a:rPr lang="en"/>
                        <a:t>)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sim (</a:t>
                      </a: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v, u</a:t>
                      </a:r>
                      <a:r>
                        <a:rPr b="1" baseline="-25000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</a:t>
                      </a: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​</a:t>
                      </a:r>
                      <a:r>
                        <a:rPr lang="en">
                          <a:solidFill>
                            <a:schemeClr val="dk2"/>
                          </a:solidFill>
                        </a:rPr>
                        <a:t>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64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cos(</a:t>
                      </a:r>
                      <a:r>
                        <a:rPr i="1" lang="en"/>
                        <a:t>θ</a:t>
                      </a:r>
                      <a:r>
                        <a:rPr lang="en"/>
                        <a:t>) =</a:t>
                      </a:r>
                      <a:br>
                        <a:rPr lang="en"/>
                      </a:b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v ⋅ u</a:t>
                      </a:r>
                      <a:r>
                        <a:rPr b="1" baseline="-25000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1</a:t>
                      </a: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​</a:t>
                      </a:r>
                      <a:endParaRPr b="1" sz="2000">
                        <a:solidFill>
                          <a:schemeClr val="dk2"/>
                        </a:solidFill>
                        <a:latin typeface="Playfair Display"/>
                        <a:ea typeface="Playfair Display"/>
                        <a:cs typeface="Playfair Display"/>
                        <a:sym typeface="Playfair Display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chemeClr val="dk2"/>
                        </a:solidFill>
                        <a:latin typeface="Playfair Display"/>
                        <a:ea typeface="Playfair Display"/>
                        <a:cs typeface="Playfair Display"/>
                        <a:sym typeface="Playfair Display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|| v ||*|| u</a:t>
                      </a:r>
                      <a:r>
                        <a:rPr b="1" baseline="-25000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1</a:t>
                      </a: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​ ||</a:t>
                      </a:r>
                      <a:endParaRPr b="1" sz="2000">
                        <a:solidFill>
                          <a:schemeClr val="dk2"/>
                        </a:solidFill>
                        <a:latin typeface="Playfair Display"/>
                        <a:ea typeface="Playfair Display"/>
                        <a:cs typeface="Playfair Display"/>
                        <a:sym typeface="Playfair Display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>
                        <a:solidFill>
                          <a:schemeClr val="dk2"/>
                        </a:solidFill>
                        <a:latin typeface="Playfair Display"/>
                        <a:ea typeface="Playfair Display"/>
                        <a:cs typeface="Playfair Display"/>
                        <a:sym typeface="Playfair Display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cos(</a:t>
                      </a:r>
                      <a:r>
                        <a:rPr i="1" lang="en">
                          <a:solidFill>
                            <a:schemeClr val="dk2"/>
                          </a:solidFill>
                        </a:rPr>
                        <a:t>θ</a:t>
                      </a:r>
                      <a:r>
                        <a:rPr lang="en">
                          <a:solidFill>
                            <a:schemeClr val="dk2"/>
                          </a:solidFill>
                        </a:rPr>
                        <a:t>) =</a:t>
                      </a:r>
                      <a:br>
                        <a:rPr lang="en">
                          <a:solidFill>
                            <a:schemeClr val="dk2"/>
                          </a:solidFill>
                        </a:rPr>
                      </a:b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7</a:t>
                      </a:r>
                      <a:endParaRPr b="1" sz="2000">
                        <a:solidFill>
                          <a:schemeClr val="dk2"/>
                        </a:solidFill>
                        <a:latin typeface="Playfair Display"/>
                        <a:ea typeface="Playfair Display"/>
                        <a:cs typeface="Playfair Display"/>
                        <a:sym typeface="Playfair Display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chemeClr val="dk2"/>
                        </a:solidFill>
                        <a:latin typeface="Playfair Display"/>
                        <a:ea typeface="Playfair Display"/>
                        <a:cs typeface="Playfair Display"/>
                        <a:sym typeface="Playfair Display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√8*√8</a:t>
                      </a:r>
                      <a:endParaRPr b="1" sz="2000">
                        <a:solidFill>
                          <a:schemeClr val="dk2"/>
                        </a:solidFill>
                        <a:latin typeface="Playfair Display"/>
                        <a:ea typeface="Playfair Display"/>
                        <a:cs typeface="Playfair Display"/>
                        <a:sym typeface="Playfair Display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cos(</a:t>
                      </a:r>
                      <a:r>
                        <a:rPr i="1" lang="en">
                          <a:solidFill>
                            <a:schemeClr val="dk2"/>
                          </a:solidFill>
                        </a:rPr>
                        <a:t>θ</a:t>
                      </a:r>
                      <a:r>
                        <a:rPr lang="en">
                          <a:solidFill>
                            <a:schemeClr val="dk2"/>
                          </a:solidFill>
                        </a:rPr>
                        <a:t>) =</a:t>
                      </a:r>
                      <a:br>
                        <a:rPr lang="en">
                          <a:solidFill>
                            <a:schemeClr val="dk2"/>
                          </a:solidFill>
                        </a:rPr>
                      </a:b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7/8 = 0.875</a:t>
                      </a:r>
                      <a:endParaRPr b="1" sz="2000">
                        <a:solidFill>
                          <a:schemeClr val="dk2"/>
                        </a:solidFill>
                        <a:latin typeface="Playfair Display"/>
                        <a:ea typeface="Playfair Display"/>
                        <a:cs typeface="Playfair Display"/>
                        <a:sym typeface="Playfair Display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  <a:latin typeface="Playfair Display"/>
                        <a:ea typeface="Playfair Display"/>
                        <a:cs typeface="Playfair Display"/>
                        <a:sym typeface="Playfair Display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Angle </a:t>
                      </a:r>
                      <a:r>
                        <a:rPr i="1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θ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 ≈ cos</a:t>
                      </a:r>
                      <a:r>
                        <a:rPr baseline="30000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⁡−1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(0.875) </a:t>
                      </a:r>
                      <a:r>
                        <a:rPr b="1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≈ 30</a:t>
                      </a:r>
                      <a:r>
                        <a:rPr b="1" baseline="30000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∘</a:t>
                      </a:r>
                      <a:endParaRPr b="1" baseline="30000">
                        <a:solidFill>
                          <a:schemeClr val="dk2"/>
                        </a:solidFill>
                        <a:latin typeface="Playfair Display"/>
                        <a:ea typeface="Playfair Display"/>
                        <a:cs typeface="Playfair Display"/>
                        <a:sym typeface="Playfair Display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cos(</a:t>
                      </a:r>
                      <a:r>
                        <a:rPr i="1" lang="en">
                          <a:solidFill>
                            <a:schemeClr val="dk2"/>
                          </a:solidFill>
                        </a:rPr>
                        <a:t>θ</a:t>
                      </a:r>
                      <a:r>
                        <a:rPr lang="en">
                          <a:solidFill>
                            <a:schemeClr val="dk2"/>
                          </a:solidFill>
                        </a:rPr>
                        <a:t>) =</a:t>
                      </a:r>
                      <a:br>
                        <a:rPr lang="en">
                          <a:solidFill>
                            <a:schemeClr val="dk2"/>
                          </a:solidFill>
                        </a:rPr>
                      </a:b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v ⋅ u</a:t>
                      </a:r>
                      <a:r>
                        <a:rPr b="1" baseline="-25000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</a:t>
                      </a: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​</a:t>
                      </a:r>
                      <a:endParaRPr b="1" sz="2000">
                        <a:solidFill>
                          <a:schemeClr val="dk2"/>
                        </a:solidFill>
                        <a:latin typeface="Playfair Display"/>
                        <a:ea typeface="Playfair Display"/>
                        <a:cs typeface="Playfair Display"/>
                        <a:sym typeface="Playfair Display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800">
                        <a:solidFill>
                          <a:schemeClr val="dk2"/>
                        </a:solidFill>
                        <a:latin typeface="Playfair Display"/>
                        <a:ea typeface="Playfair Display"/>
                        <a:cs typeface="Playfair Display"/>
                        <a:sym typeface="Playfair Display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|| v ||*|| u</a:t>
                      </a:r>
                      <a:r>
                        <a:rPr b="1" baseline="-25000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2</a:t>
                      </a: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 ||</a:t>
                      </a:r>
                      <a:endParaRPr b="1" sz="2000">
                        <a:solidFill>
                          <a:schemeClr val="dk2"/>
                        </a:solidFill>
                        <a:latin typeface="Playfair Display"/>
                        <a:ea typeface="Playfair Display"/>
                        <a:cs typeface="Playfair Display"/>
                        <a:sym typeface="Playfair Display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2000">
                        <a:solidFill>
                          <a:schemeClr val="dk2"/>
                        </a:solidFill>
                        <a:latin typeface="Playfair Display"/>
                        <a:ea typeface="Playfair Display"/>
                        <a:cs typeface="Playfair Display"/>
                        <a:sym typeface="Playfair Display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cos(</a:t>
                      </a:r>
                      <a:r>
                        <a:rPr i="1" lang="en">
                          <a:solidFill>
                            <a:schemeClr val="dk2"/>
                          </a:solidFill>
                        </a:rPr>
                        <a:t>θ</a:t>
                      </a:r>
                      <a:r>
                        <a:rPr lang="en">
                          <a:solidFill>
                            <a:schemeClr val="dk2"/>
                          </a:solidFill>
                        </a:rPr>
                        <a:t>) =</a:t>
                      </a:r>
                      <a:br>
                        <a:rPr lang="en">
                          <a:solidFill>
                            <a:schemeClr val="dk2"/>
                          </a:solidFill>
                        </a:rPr>
                      </a:b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0</a:t>
                      </a:r>
                      <a:endParaRPr b="1" sz="2000">
                        <a:solidFill>
                          <a:schemeClr val="dk2"/>
                        </a:solidFill>
                        <a:latin typeface="Playfair Display"/>
                        <a:ea typeface="Playfair Display"/>
                        <a:cs typeface="Playfair Display"/>
                        <a:sym typeface="Playfair Display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800">
                        <a:solidFill>
                          <a:schemeClr val="dk2"/>
                        </a:solidFill>
                        <a:latin typeface="Playfair Display"/>
                        <a:ea typeface="Playfair Display"/>
                        <a:cs typeface="Playfair Display"/>
                        <a:sym typeface="Playfair Display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√8*√3</a:t>
                      </a:r>
                      <a:endParaRPr b="1" sz="2000">
                        <a:solidFill>
                          <a:schemeClr val="dk2"/>
                        </a:solidFill>
                        <a:latin typeface="Playfair Display"/>
                        <a:ea typeface="Playfair Display"/>
                        <a:cs typeface="Playfair Display"/>
                        <a:sym typeface="Playfair Display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cos(</a:t>
                      </a:r>
                      <a:r>
                        <a:rPr i="1" lang="en">
                          <a:solidFill>
                            <a:schemeClr val="dk2"/>
                          </a:solidFill>
                        </a:rPr>
                        <a:t>θ</a:t>
                      </a:r>
                      <a:r>
                        <a:rPr lang="en">
                          <a:solidFill>
                            <a:schemeClr val="dk2"/>
                          </a:solidFill>
                        </a:rPr>
                        <a:t>) =</a:t>
                      </a:r>
                      <a:br>
                        <a:rPr lang="en">
                          <a:solidFill>
                            <a:schemeClr val="dk2"/>
                          </a:solidFill>
                        </a:rPr>
                      </a:br>
                      <a:r>
                        <a:rPr b="1" lang="en" sz="2000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0/√24 = 0</a:t>
                      </a:r>
                      <a:endParaRPr b="1" sz="2000">
                        <a:solidFill>
                          <a:schemeClr val="dk2"/>
                        </a:solidFill>
                        <a:latin typeface="Playfair Display"/>
                        <a:ea typeface="Playfair Display"/>
                        <a:cs typeface="Playfair Display"/>
                        <a:sym typeface="Playfair Display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  <a:latin typeface="Playfair Display"/>
                        <a:ea typeface="Playfair Display"/>
                        <a:cs typeface="Playfair Display"/>
                        <a:sym typeface="Playfair Display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Angle </a:t>
                      </a:r>
                      <a:r>
                        <a:rPr i="1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θ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 ≈ </a:t>
                      </a:r>
                      <a:endParaRPr>
                        <a:solidFill>
                          <a:schemeClr val="dk2"/>
                        </a:solidFill>
                        <a:latin typeface="Playfair Display"/>
                        <a:ea typeface="Playfair Display"/>
                        <a:cs typeface="Playfair Display"/>
                        <a:sym typeface="Playfair Display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cos</a:t>
                      </a:r>
                      <a:r>
                        <a:rPr baseline="30000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⁡−1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(0) </a:t>
                      </a:r>
                      <a:r>
                        <a:rPr b="1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= 90</a:t>
                      </a:r>
                      <a:r>
                        <a:rPr b="1" baseline="30000" lang="en">
                          <a:solidFill>
                            <a:schemeClr val="dk2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∘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62" name="Google Shape;262;p46" title="cos_si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050" y="1100050"/>
            <a:ext cx="4591474" cy="35747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" name="Google Shape;263;p46"/>
          <p:cNvCxnSpPr/>
          <p:nvPr/>
        </p:nvCxnSpPr>
        <p:spPr>
          <a:xfrm>
            <a:off x="5664875" y="1466321"/>
            <a:ext cx="12156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46"/>
          <p:cNvCxnSpPr/>
          <p:nvPr/>
        </p:nvCxnSpPr>
        <p:spPr>
          <a:xfrm>
            <a:off x="5664875" y="2721646"/>
            <a:ext cx="12156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46"/>
          <p:cNvCxnSpPr/>
          <p:nvPr/>
        </p:nvCxnSpPr>
        <p:spPr>
          <a:xfrm>
            <a:off x="7220959" y="1466321"/>
            <a:ext cx="12156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46"/>
          <p:cNvCxnSpPr/>
          <p:nvPr/>
        </p:nvCxnSpPr>
        <p:spPr>
          <a:xfrm>
            <a:off x="7195884" y="2721646"/>
            <a:ext cx="12156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7"/>
          <p:cNvSpPr txBox="1"/>
          <p:nvPr>
            <p:ph type="title"/>
          </p:nvPr>
        </p:nvSpPr>
        <p:spPr>
          <a:xfrm>
            <a:off x="283099" y="712150"/>
            <a:ext cx="77151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r>
              <a:rPr lang="en" sz="2220"/>
              <a:t>In RAG:</a:t>
            </a:r>
            <a:endParaRPr sz="2220"/>
          </a:p>
          <a:p>
            <a:pPr indent="-36957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20"/>
              <a:buChar char="●"/>
            </a:pPr>
            <a:r>
              <a:rPr lang="en" sz="2220"/>
              <a:t>User asks a question.</a:t>
            </a:r>
            <a:endParaRPr sz="2220"/>
          </a:p>
          <a:p>
            <a:pPr indent="-36957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20"/>
              <a:buChar char="●"/>
            </a:pPr>
            <a:r>
              <a:rPr lang="en" sz="2220"/>
              <a:t>We embed the question.</a:t>
            </a:r>
            <a:endParaRPr sz="2220"/>
          </a:p>
          <a:p>
            <a:pPr indent="-36957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20"/>
              <a:buChar char="●"/>
            </a:pPr>
            <a:r>
              <a:rPr lang="en" sz="2220"/>
              <a:t>We compare it to stored chunk embeddings.</a:t>
            </a:r>
            <a:endParaRPr sz="2220"/>
          </a:p>
          <a:p>
            <a:pPr indent="-36957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20"/>
              <a:buChar char="●"/>
            </a:pPr>
            <a:r>
              <a:rPr lang="en" sz="2220"/>
              <a:t>We retrieve the most similar chunks.</a:t>
            </a:r>
            <a:endParaRPr sz="2220"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22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8"/>
          <p:cNvSpPr txBox="1"/>
          <p:nvPr>
            <p:ph type="title"/>
          </p:nvPr>
        </p:nvSpPr>
        <p:spPr>
          <a:xfrm>
            <a:off x="265500" y="72420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Embedding models</a:t>
            </a:r>
            <a:endParaRPr/>
          </a:p>
        </p:txBody>
      </p:sp>
      <p:sp>
        <p:nvSpPr>
          <p:cNvPr id="277" name="Google Shape;277;p48"/>
          <p:cNvSpPr txBox="1"/>
          <p:nvPr>
            <p:ph idx="1" type="subTitle"/>
          </p:nvPr>
        </p:nvSpPr>
        <p:spPr>
          <a:xfrm>
            <a:off x="265500" y="2425227"/>
            <a:ext cx="4045200" cy="18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An embedding model is used </a:t>
            </a:r>
            <a:br>
              <a:rPr lang="en" sz="1800"/>
            </a:br>
            <a:r>
              <a:rPr lang="en" sz="1800"/>
              <a:t>only for embeddings. </a:t>
            </a:r>
            <a:endParaRPr sz="1800"/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It is not a chat model.</a:t>
            </a:r>
            <a:br>
              <a:rPr lang="en" sz="1800"/>
            </a:br>
            <a:r>
              <a:rPr lang="en" sz="1800"/>
              <a:t>It does not generate text.</a:t>
            </a:r>
            <a:br>
              <a:rPr lang="en" sz="1800"/>
            </a:br>
            <a:r>
              <a:rPr lang="en" sz="1800"/>
              <a:t>It only produces vectors.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8" name="Google Shape;278;p4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330"/>
              <a:t>Embedding models differ in:</a:t>
            </a:r>
            <a:endParaRPr sz="1330"/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330"/>
              <a:t>• Vector dimension (384, 768, 1024, 1536…)</a:t>
            </a:r>
            <a:br>
              <a:rPr lang="en" sz="1330"/>
            </a:br>
            <a:r>
              <a:rPr lang="en" sz="1330"/>
              <a:t>• Training data</a:t>
            </a:r>
            <a:br>
              <a:rPr lang="en" sz="1330"/>
            </a:br>
            <a:r>
              <a:rPr lang="en" sz="1330"/>
              <a:t>• Training objective</a:t>
            </a:r>
            <a:br>
              <a:rPr lang="en" sz="1330"/>
            </a:br>
            <a:r>
              <a:rPr lang="en" sz="1330"/>
              <a:t>• Multilingual capability</a:t>
            </a:r>
            <a:br>
              <a:rPr lang="en" sz="1330"/>
            </a:br>
            <a:r>
              <a:rPr lang="en" sz="1330"/>
              <a:t>• Domain specialization</a:t>
            </a:r>
            <a:br>
              <a:rPr lang="en" sz="1330"/>
            </a:br>
            <a:r>
              <a:rPr lang="en" sz="1330"/>
              <a:t>• Speed</a:t>
            </a:r>
            <a:br>
              <a:rPr lang="en" sz="1330"/>
            </a:br>
            <a:r>
              <a:rPr lang="en" sz="1330"/>
              <a:t>• Cost</a:t>
            </a:r>
            <a:br>
              <a:rPr lang="en" sz="1330"/>
            </a:br>
            <a:r>
              <a:rPr lang="en" sz="1330"/>
              <a:t>• Open-source vs API</a:t>
            </a:r>
            <a:endParaRPr sz="1330"/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330"/>
              <a:t>Lots and lots of models</a:t>
            </a:r>
            <a:endParaRPr sz="1330"/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330"/>
              <a:t>Hugging Face leaderboard</a:t>
            </a:r>
            <a:br>
              <a:rPr lang="en" sz="1330"/>
            </a:br>
            <a:r>
              <a:rPr lang="en" sz="1330"/>
              <a:t>MTEB (Massive Text Embedding Benchmark)</a:t>
            </a:r>
            <a:endParaRPr sz="1330"/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rPr lang="en" sz="1330">
                <a:uFill>
                  <a:noFill/>
                </a:uFill>
                <a:hlinkClick r:id="rId3"/>
              </a:rPr>
              <a:t>https://huggingface.co/spaces/mteb/leaderboard</a:t>
            </a:r>
            <a:endParaRPr sz="133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9"/>
          <p:cNvSpPr txBox="1"/>
          <p:nvPr>
            <p:ph type="title"/>
          </p:nvPr>
        </p:nvSpPr>
        <p:spPr>
          <a:xfrm>
            <a:off x="265500" y="72420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Embedded bias</a:t>
            </a:r>
            <a:endParaRPr/>
          </a:p>
        </p:txBody>
      </p:sp>
      <p:sp>
        <p:nvSpPr>
          <p:cNvPr id="284" name="Google Shape;284;p49"/>
          <p:cNvSpPr txBox="1"/>
          <p:nvPr>
            <p:ph idx="1" type="subTitle"/>
          </p:nvPr>
        </p:nvSpPr>
        <p:spPr>
          <a:xfrm>
            <a:off x="265500" y="2425227"/>
            <a:ext cx="4045200" cy="18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Hallucinating LLMs is not the only problem. Bias is also a problem.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5" name="Google Shape;285;p4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330"/>
              <a:t>Embedding models inherit:</a:t>
            </a:r>
            <a:endParaRPr sz="1330"/>
          </a:p>
          <a:p>
            <a:pPr indent="-313092" lvl="0" marL="457200" rtl="0" algn="l">
              <a:spcBef>
                <a:spcPts val="1200"/>
              </a:spcBef>
              <a:spcAft>
                <a:spcPts val="0"/>
              </a:spcAft>
              <a:buSzPts val="1331"/>
              <a:buChar char="●"/>
            </a:pPr>
            <a:r>
              <a:rPr lang="en" sz="1330"/>
              <a:t>Cultural biases</a:t>
            </a:r>
            <a:endParaRPr sz="1330"/>
          </a:p>
          <a:p>
            <a:pPr indent="-313092" lvl="0" marL="457200" rtl="0" algn="l">
              <a:spcBef>
                <a:spcPts val="0"/>
              </a:spcBef>
              <a:spcAft>
                <a:spcPts val="0"/>
              </a:spcAft>
              <a:buSzPts val="1331"/>
              <a:buChar char="●"/>
            </a:pPr>
            <a:r>
              <a:rPr lang="en" sz="1330"/>
              <a:t>Training data patterns</a:t>
            </a:r>
            <a:endParaRPr sz="1330"/>
          </a:p>
          <a:p>
            <a:pPr indent="-313092" lvl="0" marL="457200" rtl="0" algn="l">
              <a:spcBef>
                <a:spcPts val="0"/>
              </a:spcBef>
              <a:spcAft>
                <a:spcPts val="0"/>
              </a:spcAft>
              <a:buSzPts val="1331"/>
              <a:buChar char="●"/>
            </a:pPr>
            <a:r>
              <a:rPr lang="en" sz="1330"/>
              <a:t>Political skew</a:t>
            </a:r>
            <a:endParaRPr sz="1330"/>
          </a:p>
          <a:p>
            <a:pPr indent="-313092" lvl="0" marL="457200" rtl="0" algn="l">
              <a:spcBef>
                <a:spcPts val="0"/>
              </a:spcBef>
              <a:spcAft>
                <a:spcPts val="0"/>
              </a:spcAft>
              <a:buSzPts val="1331"/>
              <a:buChar char="●"/>
            </a:pPr>
            <a:r>
              <a:rPr lang="en" sz="1330"/>
              <a:t>Domain skew</a:t>
            </a:r>
            <a:endParaRPr sz="133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330"/>
              <a:t>So even before the LLM answers anything,</a:t>
            </a:r>
            <a:br>
              <a:rPr lang="en" sz="1330"/>
            </a:br>
            <a:r>
              <a:rPr lang="en" sz="1330"/>
              <a:t>bias may already be encoded in e.g. what chunks get retrieved.</a:t>
            </a:r>
            <a:endParaRPr sz="133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330"/>
              <a:t>Bias can enter:</a:t>
            </a:r>
            <a:endParaRPr sz="1330"/>
          </a:p>
          <a:p>
            <a:pPr indent="-313092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31"/>
              <a:buChar char="●"/>
            </a:pPr>
            <a:r>
              <a:rPr lang="en" sz="1330"/>
              <a:t>During embedding</a:t>
            </a:r>
            <a:endParaRPr sz="1330"/>
          </a:p>
          <a:p>
            <a:pPr indent="-313092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31"/>
              <a:buChar char="●"/>
            </a:pPr>
            <a:r>
              <a:rPr lang="en" sz="1330"/>
              <a:t>During retrieval</a:t>
            </a:r>
            <a:endParaRPr sz="1330"/>
          </a:p>
          <a:p>
            <a:pPr indent="-313092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31"/>
              <a:buChar char="●"/>
            </a:pPr>
            <a:r>
              <a:rPr lang="en" sz="1330"/>
              <a:t>During generation</a:t>
            </a:r>
            <a:endParaRPr sz="133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3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133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0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prompts with context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prompts with context</a:t>
            </a:r>
            <a:endParaRPr/>
          </a:p>
        </p:txBody>
      </p:sp>
      <p:sp>
        <p:nvSpPr>
          <p:cNvPr id="296" name="Google Shape;296;p5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System instructions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Guardrails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How much context do we need? </a:t>
            </a:r>
            <a:r>
              <a:rPr lang="en" sz="1700"/>
              <a:t>What is Top-K?</a:t>
            </a:r>
            <a:endParaRPr sz="17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2"/>
          <p:cNvSpPr txBox="1"/>
          <p:nvPr>
            <p:ph type="title"/>
          </p:nvPr>
        </p:nvSpPr>
        <p:spPr>
          <a:xfrm>
            <a:off x="265500" y="72420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Instructions</a:t>
            </a:r>
            <a:endParaRPr/>
          </a:p>
        </p:txBody>
      </p:sp>
      <p:sp>
        <p:nvSpPr>
          <p:cNvPr id="302" name="Google Shape;302;p52"/>
          <p:cNvSpPr txBox="1"/>
          <p:nvPr>
            <p:ph idx="1" type="subTitle"/>
          </p:nvPr>
        </p:nvSpPr>
        <p:spPr>
          <a:xfrm>
            <a:off x="265500" y="2425227"/>
            <a:ext cx="4045200" cy="18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role of the model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constraints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behavior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source of truth</a:t>
            </a:r>
            <a:endParaRPr sz="1800"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3" name="Google Shape;303;p5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30"/>
              <a:t>System instructions are critical in RAG.</a:t>
            </a:r>
            <a:endParaRPr sz="153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530"/>
              <a:t>Without system instructions:</a:t>
            </a:r>
            <a:endParaRPr sz="1530"/>
          </a:p>
          <a:p>
            <a:pPr indent="-325792" lvl="0" marL="457200" rtl="0" algn="l">
              <a:spcBef>
                <a:spcPts val="120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The model may hallucinate.</a:t>
            </a:r>
            <a:endParaRPr sz="1530"/>
          </a:p>
          <a:p>
            <a:pPr indent="-325792" lvl="0" marL="457200" rtl="0" algn="l">
              <a:spcBef>
                <a:spcPts val="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It may ignore retrieved documents.</a:t>
            </a:r>
            <a:endParaRPr sz="1530"/>
          </a:p>
          <a:p>
            <a:pPr indent="-325792" lvl="0" marL="457200" rtl="0" algn="l">
              <a:spcBef>
                <a:spcPts val="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It may use prior knowledge.</a:t>
            </a:r>
            <a:endParaRPr sz="153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30"/>
              <a:t>LLMs are obedient (unless you hit guardrails).</a:t>
            </a:r>
            <a:endParaRPr sz="1530"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3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3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133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3"/>
          <p:cNvSpPr txBox="1"/>
          <p:nvPr>
            <p:ph type="title"/>
          </p:nvPr>
        </p:nvSpPr>
        <p:spPr>
          <a:xfrm>
            <a:off x="265500" y="150475"/>
            <a:ext cx="4045200" cy="10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Guardrails</a:t>
            </a:r>
            <a:endParaRPr/>
          </a:p>
        </p:txBody>
      </p:sp>
      <p:sp>
        <p:nvSpPr>
          <p:cNvPr id="309" name="Google Shape;309;p53"/>
          <p:cNvSpPr txBox="1"/>
          <p:nvPr>
            <p:ph idx="1" type="subTitle"/>
          </p:nvPr>
        </p:nvSpPr>
        <p:spPr>
          <a:xfrm>
            <a:off x="265500" y="1504700"/>
            <a:ext cx="4045200" cy="30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Guardrails are safety mechanisms that constrain model behavior.</a:t>
            </a:r>
            <a:endParaRPr sz="1800"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In a RAG a model must balance: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Obedience to instructions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Internal safety training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Guardrails in action: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uFill>
                  <a:noFill/>
                </a:uFill>
                <a:hlinkClick r:id="rId3"/>
              </a:rPr>
              <a:t>https://gandalf.lakera.ai/baseline</a:t>
            </a:r>
            <a:endParaRPr sz="1800"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0" name="Google Shape;310;p5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530"/>
              <a:t>Designed to prevent:</a:t>
            </a:r>
            <a:endParaRPr sz="1530"/>
          </a:p>
          <a:p>
            <a:pPr indent="-325792" lvl="0" marL="457200" rtl="0" algn="l">
              <a:spcBef>
                <a:spcPts val="120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Harmful outputs</a:t>
            </a:r>
            <a:endParaRPr sz="1530"/>
          </a:p>
          <a:p>
            <a:pPr indent="-325792" lvl="0" marL="457200" rtl="0" algn="l">
              <a:spcBef>
                <a:spcPts val="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Misinformation presented as fact</a:t>
            </a:r>
            <a:endParaRPr sz="1530"/>
          </a:p>
          <a:p>
            <a:pPr indent="-325792" lvl="0" marL="457200" rtl="0" algn="l">
              <a:spcBef>
                <a:spcPts val="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Unsafe instructions</a:t>
            </a:r>
            <a:endParaRPr sz="1530"/>
          </a:p>
          <a:p>
            <a:pPr indent="-325792" lvl="0" marL="457200" rtl="0" algn="l">
              <a:spcBef>
                <a:spcPts val="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Policy violations</a:t>
            </a:r>
            <a:endParaRPr sz="1530"/>
          </a:p>
          <a:p>
            <a:pPr indent="-325792" lvl="0" marL="457200" rtl="0" algn="l">
              <a:spcBef>
                <a:spcPts val="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Manipulation or abuse</a:t>
            </a:r>
            <a:endParaRPr sz="1530"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30"/>
              <a:t>Guardrails do NOT:</a:t>
            </a:r>
            <a:endParaRPr sz="1530"/>
          </a:p>
          <a:p>
            <a:pPr indent="-325792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Remove all bias</a:t>
            </a:r>
            <a:endParaRPr sz="1530"/>
          </a:p>
          <a:p>
            <a:pPr indent="-325792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Guarantee factual accuracy</a:t>
            </a:r>
            <a:endParaRPr sz="1530"/>
          </a:p>
          <a:p>
            <a:pPr indent="-325792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Eliminate hallucinations</a:t>
            </a:r>
            <a:endParaRPr sz="133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133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4"/>
          <p:cNvSpPr txBox="1"/>
          <p:nvPr>
            <p:ph type="title"/>
          </p:nvPr>
        </p:nvSpPr>
        <p:spPr>
          <a:xfrm>
            <a:off x="265500" y="72420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Much Context Do We Need?</a:t>
            </a:r>
            <a:endParaRPr/>
          </a:p>
        </p:txBody>
      </p:sp>
      <p:sp>
        <p:nvSpPr>
          <p:cNvPr id="316" name="Google Shape;316;p54"/>
          <p:cNvSpPr txBox="1"/>
          <p:nvPr>
            <p:ph idx="1" type="subTitle"/>
          </p:nvPr>
        </p:nvSpPr>
        <p:spPr>
          <a:xfrm>
            <a:off x="265500" y="2425227"/>
            <a:ext cx="4045200" cy="18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More context ≠ better answers.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If you overload it with loosely related chunks, you reduce clarity.</a:t>
            </a:r>
            <a:endParaRPr sz="1800"/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7" name="Google Shape;317;p5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530"/>
              <a:t>Too little context:</a:t>
            </a:r>
            <a:endParaRPr sz="1530"/>
          </a:p>
          <a:p>
            <a:pPr indent="-325792" lvl="0" marL="457200" rtl="0" algn="l">
              <a:spcBef>
                <a:spcPts val="120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Missing important information.</a:t>
            </a:r>
            <a:endParaRPr sz="1530"/>
          </a:p>
          <a:p>
            <a:pPr indent="-325792" lvl="0" marL="457200" rtl="0" algn="l">
              <a:spcBef>
                <a:spcPts val="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Incomplete answers.</a:t>
            </a:r>
            <a:endParaRPr sz="153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530"/>
              <a:t>Too much context:</a:t>
            </a:r>
            <a:endParaRPr sz="1530"/>
          </a:p>
          <a:p>
            <a:pPr indent="-325792" lvl="0" marL="457200" rtl="0" algn="l">
              <a:spcBef>
                <a:spcPts val="120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Increased cost.</a:t>
            </a:r>
            <a:endParaRPr sz="1530"/>
          </a:p>
          <a:p>
            <a:pPr indent="-325792" lvl="0" marL="457200" rtl="0" algn="l">
              <a:spcBef>
                <a:spcPts val="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Noise.</a:t>
            </a:r>
            <a:endParaRPr sz="1530"/>
          </a:p>
          <a:p>
            <a:pPr indent="-325792" lvl="0" marL="457200" rtl="0" algn="l">
              <a:spcBef>
                <a:spcPts val="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Confusion.</a:t>
            </a:r>
            <a:endParaRPr sz="1530"/>
          </a:p>
          <a:p>
            <a:pPr indent="-325792" lvl="0" marL="457200" rtl="0" algn="l">
              <a:spcBef>
                <a:spcPts val="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Diluted signal.</a:t>
            </a:r>
            <a:endParaRPr sz="1530"/>
          </a:p>
          <a:p>
            <a:pPr indent="-325792" lvl="0" marL="457200" rtl="0" algn="l">
              <a:spcBef>
                <a:spcPts val="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Lower retrieval precision.</a:t>
            </a:r>
            <a:endParaRPr sz="153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133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5"/>
          <p:cNvSpPr txBox="1"/>
          <p:nvPr>
            <p:ph type="title"/>
          </p:nvPr>
        </p:nvSpPr>
        <p:spPr>
          <a:xfrm>
            <a:off x="265500" y="72420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Top-K?</a:t>
            </a:r>
            <a:endParaRPr/>
          </a:p>
        </p:txBody>
      </p:sp>
      <p:sp>
        <p:nvSpPr>
          <p:cNvPr id="323" name="Google Shape;323;p55"/>
          <p:cNvSpPr txBox="1"/>
          <p:nvPr>
            <p:ph idx="1" type="subTitle"/>
          </p:nvPr>
        </p:nvSpPr>
        <p:spPr>
          <a:xfrm>
            <a:off x="265500" y="2425227"/>
            <a:ext cx="4045200" cy="18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The number of most similar chunks that are retrieved during vector search.</a:t>
            </a:r>
            <a:endParaRPr sz="1800"/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4" name="Google Shape;324;p5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530"/>
              <a:t>Low K:</a:t>
            </a:r>
            <a:endParaRPr sz="1530"/>
          </a:p>
          <a:p>
            <a:pPr indent="-325792" lvl="0" marL="457200" rtl="0" algn="l">
              <a:spcBef>
                <a:spcPts val="120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More focused</a:t>
            </a:r>
            <a:endParaRPr sz="1530"/>
          </a:p>
          <a:p>
            <a:pPr indent="-325792" lvl="0" marL="457200" rtl="0" algn="l">
              <a:spcBef>
                <a:spcPts val="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Less noise</a:t>
            </a:r>
            <a:br>
              <a:rPr lang="en" sz="1530"/>
            </a:br>
            <a:r>
              <a:rPr lang="en" sz="1530"/>
              <a:t>– Risk of missing key info</a:t>
            </a:r>
            <a:endParaRPr sz="153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530"/>
              <a:t>High K:</a:t>
            </a:r>
            <a:endParaRPr sz="1530"/>
          </a:p>
          <a:p>
            <a:pPr indent="-325792" lvl="0" marL="457200" rtl="0" algn="l">
              <a:spcBef>
                <a:spcPts val="120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More coverage</a:t>
            </a:r>
            <a:br>
              <a:rPr lang="en" sz="1530"/>
            </a:br>
            <a:r>
              <a:rPr lang="en" sz="1530"/>
              <a:t>– More noise</a:t>
            </a:r>
            <a:br>
              <a:rPr lang="en" sz="1530"/>
            </a:br>
            <a:r>
              <a:rPr lang="en" sz="1530"/>
              <a:t>– Higher token cost</a:t>
            </a:r>
            <a:br>
              <a:rPr lang="en" sz="1530"/>
            </a:br>
            <a:r>
              <a:rPr lang="en" sz="1530"/>
              <a:t>– More cognitive load on model</a:t>
            </a:r>
            <a:endParaRPr sz="153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530"/>
              <a:t>In practice:</a:t>
            </a:r>
            <a:endParaRPr sz="1530"/>
          </a:p>
          <a:p>
            <a:pPr indent="-325792" lvl="0" marL="457200" rtl="0" algn="l">
              <a:spcBef>
                <a:spcPts val="120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K = 3–5 is common for small chunks.</a:t>
            </a:r>
            <a:endParaRPr sz="1530"/>
          </a:p>
          <a:p>
            <a:pPr indent="-325792" lvl="0" marL="457200" rtl="0" algn="l">
              <a:spcBef>
                <a:spcPts val="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Larger corpora may use reranking after initial retrieval.</a:t>
            </a:r>
            <a:endParaRPr sz="153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153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6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 to LLMs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 to LLMs</a:t>
            </a:r>
            <a:endParaRPr/>
          </a:p>
        </p:txBody>
      </p:sp>
      <p:sp>
        <p:nvSpPr>
          <p:cNvPr id="335" name="Google Shape;335;p57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Temperature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Top-P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Max tokens</a:t>
            </a:r>
            <a:endParaRPr sz="17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8"/>
          <p:cNvSpPr txBox="1"/>
          <p:nvPr>
            <p:ph type="title"/>
          </p:nvPr>
        </p:nvSpPr>
        <p:spPr>
          <a:xfrm>
            <a:off x="265500" y="724200"/>
            <a:ext cx="4045200" cy="72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Temperature</a:t>
            </a:r>
            <a:endParaRPr/>
          </a:p>
        </p:txBody>
      </p:sp>
      <p:sp>
        <p:nvSpPr>
          <p:cNvPr id="341" name="Google Shape;341;p58"/>
          <p:cNvSpPr txBox="1"/>
          <p:nvPr>
            <p:ph idx="1" type="subTitle"/>
          </p:nvPr>
        </p:nvSpPr>
        <p:spPr>
          <a:xfrm>
            <a:off x="265500" y="1794075"/>
            <a:ext cx="4352700" cy="25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Temperature controls </a:t>
            </a:r>
            <a:r>
              <a:rPr b="1" lang="en" sz="1800"/>
              <a:t>randomness</a:t>
            </a:r>
            <a:r>
              <a:rPr lang="en" sz="1800"/>
              <a:t>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800"/>
              <a:t>Low temperature:</a:t>
            </a:r>
            <a:br>
              <a:rPr lang="en" sz="1800"/>
            </a:br>
            <a:r>
              <a:rPr lang="en" sz="1800"/>
              <a:t>The most likely token almost always wins.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High temperature:</a:t>
            </a:r>
            <a:br>
              <a:rPr lang="en" sz="1800"/>
            </a:br>
            <a:r>
              <a:rPr lang="en" sz="1800"/>
              <a:t>Less likely tokens get a chance.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/>
              <a:t>Can’t be adjusted in reasoning models!</a:t>
            </a:r>
            <a:endParaRPr b="1" sz="1800"/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2" name="Google Shape;342;p5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0"/>
              <a:t>Low temperature (0.0–0.3)</a:t>
            </a:r>
            <a:endParaRPr sz="1530"/>
          </a:p>
          <a:p>
            <a:pPr indent="-325792" lvl="0" marL="457200" rtl="0" algn="l">
              <a:spcBef>
                <a:spcPts val="120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Deterministic</a:t>
            </a:r>
            <a:endParaRPr sz="1530"/>
          </a:p>
          <a:p>
            <a:pPr indent="-325792" lvl="0" marL="457200" rtl="0" algn="l">
              <a:spcBef>
                <a:spcPts val="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Focused</a:t>
            </a:r>
            <a:endParaRPr sz="1530"/>
          </a:p>
          <a:p>
            <a:pPr indent="-325792" lvl="0" marL="457200" rtl="0" algn="l">
              <a:spcBef>
                <a:spcPts val="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Reproducible</a:t>
            </a:r>
            <a:endParaRPr sz="153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30"/>
              <a:t>Medium (0.4–0.7)</a:t>
            </a:r>
            <a:endParaRPr sz="1530"/>
          </a:p>
          <a:p>
            <a:pPr indent="-325792" lvl="0" marL="457200" rtl="0" algn="l">
              <a:spcBef>
                <a:spcPts val="120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Balanced</a:t>
            </a:r>
            <a:endParaRPr sz="1530"/>
          </a:p>
          <a:p>
            <a:pPr indent="-325792" lvl="0" marL="457200" rtl="0" algn="l">
              <a:spcBef>
                <a:spcPts val="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Slight variation</a:t>
            </a:r>
            <a:endParaRPr sz="153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30"/>
              <a:t>High (0.8–1.2+)</a:t>
            </a:r>
            <a:endParaRPr sz="1530"/>
          </a:p>
          <a:p>
            <a:pPr indent="-325792" lvl="0" marL="457200" rtl="0" algn="l">
              <a:spcBef>
                <a:spcPts val="120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Creative, diverse</a:t>
            </a:r>
            <a:endParaRPr sz="1530"/>
          </a:p>
          <a:p>
            <a:pPr indent="-325792" lvl="0" marL="457200" rtl="0" algn="l">
              <a:spcBef>
                <a:spcPts val="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Less predictable</a:t>
            </a:r>
            <a:endParaRPr sz="1530"/>
          </a:p>
          <a:p>
            <a:pPr indent="-325792" lvl="0" marL="457200" rtl="0" algn="l">
              <a:spcBef>
                <a:spcPts val="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Higher hallucination risk</a:t>
            </a:r>
            <a:endParaRPr sz="153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9"/>
          <p:cNvSpPr txBox="1"/>
          <p:nvPr>
            <p:ph type="title"/>
          </p:nvPr>
        </p:nvSpPr>
        <p:spPr>
          <a:xfrm>
            <a:off x="265500" y="724200"/>
            <a:ext cx="4045200" cy="72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Top-P</a:t>
            </a:r>
            <a:endParaRPr/>
          </a:p>
        </p:txBody>
      </p:sp>
      <p:sp>
        <p:nvSpPr>
          <p:cNvPr id="348" name="Google Shape;348;p59"/>
          <p:cNvSpPr txBox="1"/>
          <p:nvPr>
            <p:ph idx="1" type="subTitle"/>
          </p:nvPr>
        </p:nvSpPr>
        <p:spPr>
          <a:xfrm>
            <a:off x="265500" y="1794075"/>
            <a:ext cx="4167600" cy="25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The cumulative probability mass considered for token selection.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Lower value for less random responses and a higher value for more random responses.</a:t>
            </a:r>
            <a:endParaRPr sz="1800"/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9" name="Google Shape;349;p5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0"/>
              <a:t>From Gemini documentation:</a:t>
            </a:r>
            <a:endParaRPr sz="153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0"/>
              <a:t>Tokens are selected from the most probable to least probable until the sum of their probabilities equals the top-P value. For example, if tokens A, B, and C have a probability of 0.3, 0.2, and 0.1 and the top-P value is 0.5, then the model will select either A or B as the next token by using temperature and excludes C as a candidate.</a:t>
            </a:r>
            <a:endParaRPr sz="153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60"/>
          <p:cNvSpPr txBox="1"/>
          <p:nvPr>
            <p:ph type="title"/>
          </p:nvPr>
        </p:nvSpPr>
        <p:spPr>
          <a:xfrm>
            <a:off x="283100" y="712150"/>
            <a:ext cx="83400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4020"/>
              <a:t>Temperature reshapes how confident the model is.</a:t>
            </a:r>
            <a:endParaRPr sz="402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/>
              <a:t>Top-p limits how many candidate tokens are considered.</a:t>
            </a:r>
            <a:endParaRPr sz="402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1"/>
          <p:cNvSpPr txBox="1"/>
          <p:nvPr>
            <p:ph type="title"/>
          </p:nvPr>
        </p:nvSpPr>
        <p:spPr>
          <a:xfrm>
            <a:off x="265500" y="724200"/>
            <a:ext cx="4045200" cy="72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 tokens</a:t>
            </a:r>
            <a:endParaRPr/>
          </a:p>
        </p:txBody>
      </p:sp>
      <p:sp>
        <p:nvSpPr>
          <p:cNvPr id="360" name="Google Shape;360;p61"/>
          <p:cNvSpPr txBox="1"/>
          <p:nvPr>
            <p:ph idx="1" type="subTitle"/>
          </p:nvPr>
        </p:nvSpPr>
        <p:spPr>
          <a:xfrm>
            <a:off x="265500" y="1794075"/>
            <a:ext cx="4167600" cy="25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This parameter limits how long the model’s response can be 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(output tokens).</a:t>
            </a:r>
            <a:endParaRPr b="1" sz="1800"/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1" name="Google Shape;361;p6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5792" lvl="0" marL="457200" rtl="0" algn="l">
              <a:spcBef>
                <a:spcPts val="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Prevents runaway responses</a:t>
            </a:r>
            <a:endParaRPr sz="1530"/>
          </a:p>
          <a:p>
            <a:pPr indent="-325792" lvl="0" marL="457200" rtl="0" algn="l">
              <a:spcBef>
                <a:spcPts val="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Controls cost</a:t>
            </a:r>
            <a:endParaRPr sz="1530"/>
          </a:p>
          <a:p>
            <a:pPr indent="-325792" lvl="0" marL="457200" rtl="0" algn="l">
              <a:spcBef>
                <a:spcPts val="0"/>
              </a:spcBef>
              <a:spcAft>
                <a:spcPts val="0"/>
              </a:spcAft>
              <a:buSzPts val="1531"/>
              <a:buChar char="●"/>
            </a:pPr>
            <a:r>
              <a:rPr lang="en" sz="1530"/>
              <a:t>Prevents exceeding context window</a:t>
            </a:r>
            <a:endParaRPr sz="153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0"/>
              <a:t>Total context window = </a:t>
            </a:r>
            <a:endParaRPr sz="153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0"/>
              <a:t>Input tokens + Output tokens</a:t>
            </a:r>
            <a:endParaRPr sz="153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2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improvise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